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6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08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02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408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752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7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3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05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38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075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65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2428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68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684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137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8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65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C0C019E-E4E1-4747-B33F-12930F2BF2DF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4A2C2-CC7B-484D-AA9D-DC33E689DF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995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DB20-DD6D-6BF0-25E2-3BF659B7C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536" y="282679"/>
            <a:ext cx="8490490" cy="1198288"/>
          </a:xfrm>
        </p:spPr>
        <p:txBody>
          <a:bodyPr/>
          <a:lstStyle/>
          <a:p>
            <a:r>
              <a:rPr lang="en-US" sz="4000" b="1" dirty="0"/>
              <a:t>Chip Category Strategic Review</a:t>
            </a:r>
            <a:endParaRPr lang="ru-RU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8EDE-AF7E-CE08-EF3F-6B4928717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536" y="1645901"/>
            <a:ext cx="7517096" cy="929148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Customer Analytics &amp; Trial Store Performance</a:t>
            </a:r>
          </a:p>
          <a:p>
            <a:r>
              <a:rPr lang="en-US" sz="2400" b="1" dirty="0" err="1"/>
              <a:t>Quantium</a:t>
            </a:r>
            <a:r>
              <a:rPr lang="en-US" sz="2400" b="1" dirty="0"/>
              <a:t> Retail Analytics Team</a:t>
            </a:r>
            <a:endParaRPr lang="ru-R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0B236-092B-BC66-59A5-CE66262173BC}"/>
              </a:ext>
            </a:extLst>
          </p:cNvPr>
          <p:cNvSpPr txBox="1"/>
          <p:nvPr/>
        </p:nvSpPr>
        <p:spPr>
          <a:xfrm>
            <a:off x="417536" y="3247556"/>
            <a:ext cx="6396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Prepared for: Julia — Category Manager</a:t>
            </a:r>
          </a:p>
          <a:p>
            <a:r>
              <a:rPr lang="en-US" sz="2400" dirty="0"/>
              <a:t>Date: May 2019</a:t>
            </a:r>
          </a:p>
          <a:p>
            <a:r>
              <a:rPr lang="en-US" sz="2400" dirty="0"/>
              <a:t>Analyst: Elchin </a:t>
            </a:r>
            <a:r>
              <a:rPr lang="en-US" sz="2400" dirty="0" err="1"/>
              <a:t>Murshudlu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421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B4FB30-0533-A9E3-B724-5A82D7D648BD}"/>
              </a:ext>
            </a:extLst>
          </p:cNvPr>
          <p:cNvSpPr txBox="1"/>
          <p:nvPr/>
        </p:nvSpPr>
        <p:spPr>
          <a:xfrm>
            <a:off x="417535" y="1371600"/>
            <a:ext cx="1133692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Agenda</a:t>
            </a:r>
            <a:endParaRPr lang="en-US" dirty="0"/>
          </a:p>
          <a:p>
            <a:r>
              <a:rPr lang="en-US" dirty="0"/>
              <a:t>________________________________________________________________________</a:t>
            </a:r>
            <a:r>
              <a:rPr lang="az-Latn-AZ" dirty="0"/>
              <a:t>_________________________</a:t>
            </a:r>
          </a:p>
          <a:p>
            <a:endParaRPr lang="en-US" dirty="0"/>
          </a:p>
          <a:p>
            <a:r>
              <a:rPr lang="en-US" sz="2800" b="1" dirty="0"/>
              <a:t>01 </a:t>
            </a:r>
            <a:r>
              <a:rPr lang="en-US" sz="2800" dirty="0"/>
              <a:t>-  Executive Summary</a:t>
            </a:r>
          </a:p>
          <a:p>
            <a:r>
              <a:rPr lang="en-US" sz="2800" b="1" dirty="0"/>
              <a:t>02 </a:t>
            </a:r>
            <a:r>
              <a:rPr lang="en-US" sz="2800" dirty="0"/>
              <a:t>- Customer Segment Analysis</a:t>
            </a:r>
          </a:p>
          <a:p>
            <a:r>
              <a:rPr lang="en-US" sz="2800" b="1" dirty="0"/>
              <a:t>03 </a:t>
            </a:r>
            <a:r>
              <a:rPr lang="en-US" sz="2800" dirty="0"/>
              <a:t>- Product &amp; Brand Insights</a:t>
            </a:r>
          </a:p>
          <a:p>
            <a:r>
              <a:rPr lang="en-US" sz="2800" b="1" dirty="0"/>
              <a:t>04 </a:t>
            </a:r>
            <a:r>
              <a:rPr lang="en-US" sz="2800" dirty="0"/>
              <a:t>- Trial Store Performance</a:t>
            </a:r>
          </a:p>
          <a:p>
            <a:r>
              <a:rPr lang="en-US" sz="2800" b="1" dirty="0"/>
              <a:t>05 </a:t>
            </a:r>
            <a:r>
              <a:rPr lang="en-US" sz="2800" dirty="0"/>
              <a:t>- Recommendations &amp; Next Steps</a:t>
            </a:r>
          </a:p>
        </p:txBody>
      </p:sp>
    </p:spTree>
    <p:extLst>
      <p:ext uri="{BB962C8B-B14F-4D97-AF65-F5344CB8AC3E}">
        <p14:creationId xmlns:p14="http://schemas.microsoft.com/office/powerpoint/2010/main" val="10592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6DE399-E6A6-C327-38D5-0D24802133C4}"/>
              </a:ext>
            </a:extLst>
          </p:cNvPr>
          <p:cNvSpPr txBox="1"/>
          <p:nvPr/>
        </p:nvSpPr>
        <p:spPr>
          <a:xfrm>
            <a:off x="339212" y="1166842"/>
            <a:ext cx="991091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Executive Summary</a:t>
            </a:r>
            <a:endParaRPr lang="en-US" sz="2800" dirty="0"/>
          </a:p>
          <a:p>
            <a:r>
              <a:rPr lang="en-US" dirty="0"/>
              <a:t>_____________________________________________________________________________________</a:t>
            </a:r>
            <a:endParaRPr lang="az-Latn-AZ" dirty="0"/>
          </a:p>
          <a:p>
            <a:endParaRPr lang="en-US" dirty="0"/>
          </a:p>
          <a:p>
            <a:r>
              <a:rPr lang="en-US" b="1" dirty="0"/>
              <a:t>Key Finding 1</a:t>
            </a:r>
            <a:r>
              <a:rPr lang="en-US" dirty="0"/>
              <a:t> — Top Customer Segments</a:t>
            </a:r>
          </a:p>
          <a:p>
            <a:r>
              <a:rPr lang="en-US" dirty="0"/>
              <a:t>Budget Older Families and Mainstream Young </a:t>
            </a:r>
          </a:p>
          <a:p>
            <a:r>
              <a:rPr lang="en-US" dirty="0"/>
              <a:t>Singles/Couples are the highest revenue-generating </a:t>
            </a:r>
          </a:p>
          <a:p>
            <a:r>
              <a:rPr lang="en-US" dirty="0"/>
              <a:t>segments, contributing $156.9K and $147.6K respectively.</a:t>
            </a:r>
            <a:endParaRPr lang="az-Latn-AZ" dirty="0"/>
          </a:p>
          <a:p>
            <a:endParaRPr lang="en-US" dirty="0"/>
          </a:p>
          <a:p>
            <a:r>
              <a:rPr lang="en-US" b="1" dirty="0"/>
              <a:t>Key Finding 2</a:t>
            </a:r>
            <a:r>
              <a:rPr lang="en-US" dirty="0"/>
              <a:t> — Product Preferences</a:t>
            </a:r>
          </a:p>
          <a:p>
            <a:r>
              <a:rPr lang="en-US" dirty="0"/>
              <a:t>Kettle is the dominant chip brand with $390K in sales. </a:t>
            </a:r>
          </a:p>
          <a:p>
            <a:r>
              <a:rPr lang="en-US" dirty="0"/>
              <a:t>The 175g pack size is the most preferred across all segments.</a:t>
            </a:r>
            <a:endParaRPr lang="az-Latn-AZ" dirty="0"/>
          </a:p>
          <a:p>
            <a:endParaRPr lang="en-US" dirty="0"/>
          </a:p>
          <a:p>
            <a:r>
              <a:rPr lang="en-US" b="1" dirty="0"/>
              <a:t>Key Finding 3 </a:t>
            </a:r>
            <a:r>
              <a:rPr lang="en-US" dirty="0"/>
              <a:t>— Trial Store Results</a:t>
            </a:r>
          </a:p>
          <a:p>
            <a:r>
              <a:rPr lang="en-US" dirty="0"/>
              <a:t>Store 88 demonstrated a strong sales uplift during the </a:t>
            </a:r>
          </a:p>
          <a:p>
            <a:r>
              <a:rPr lang="en-US" dirty="0"/>
              <a:t>trial period. Stores 77 and 86 showed moderate results. </a:t>
            </a:r>
          </a:p>
          <a:p>
            <a:r>
              <a:rPr lang="en-US" dirty="0"/>
              <a:t>The trial layout is recommended for broader rollout.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DF7464-971F-DA57-A669-A46963E2190E}"/>
              </a:ext>
            </a:extLst>
          </p:cNvPr>
          <p:cNvSpPr/>
          <p:nvPr/>
        </p:nvSpPr>
        <p:spPr>
          <a:xfrm>
            <a:off x="7123469" y="1843548"/>
            <a:ext cx="2507227" cy="115037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$156.9K</a:t>
            </a:r>
            <a:endParaRPr lang="en-US" dirty="0"/>
          </a:p>
          <a:p>
            <a:r>
              <a:rPr lang="en-US" sz="1400" dirty="0"/>
              <a:t>Budget Older Families</a:t>
            </a:r>
          </a:p>
          <a:p>
            <a:r>
              <a:rPr lang="en-US" sz="1400" dirty="0"/>
              <a:t>Top Revenue Segment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89805-5204-9F60-7C8B-7A5DE9224CAD}"/>
              </a:ext>
            </a:extLst>
          </p:cNvPr>
          <p:cNvSpPr/>
          <p:nvPr/>
        </p:nvSpPr>
        <p:spPr>
          <a:xfrm>
            <a:off x="7123470" y="3192164"/>
            <a:ext cx="2507226" cy="115037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$390K</a:t>
            </a:r>
            <a:endParaRPr lang="en-US" dirty="0"/>
          </a:p>
          <a:p>
            <a:r>
              <a:rPr lang="en-US" sz="1400" dirty="0"/>
              <a:t>Kettle — #1 Brand</a:t>
            </a:r>
          </a:p>
          <a:p>
            <a:r>
              <a:rPr lang="en-US" sz="1400" dirty="0"/>
              <a:t>175g Most Popular Pack</a:t>
            </a:r>
          </a:p>
          <a:p>
            <a:pPr algn="ctr"/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602F5F-0CDC-87CD-695F-AFFC4394919F}"/>
              </a:ext>
            </a:extLst>
          </p:cNvPr>
          <p:cNvSpPr/>
          <p:nvPr/>
        </p:nvSpPr>
        <p:spPr>
          <a:xfrm>
            <a:off x="7123469" y="4540780"/>
            <a:ext cx="2507225" cy="115037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Store 88 ↑</a:t>
            </a:r>
            <a:endParaRPr lang="en-US" dirty="0"/>
          </a:p>
          <a:p>
            <a:r>
              <a:rPr lang="en-US" sz="1400" dirty="0"/>
              <a:t>Strongest Trial Uplift</a:t>
            </a:r>
          </a:p>
          <a:p>
            <a:r>
              <a:rPr lang="en-US" sz="1400" dirty="0"/>
              <a:t>Rollout Recommended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637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EA334-3B16-3CED-D2C8-A6661B03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Customer Segment Analysis</a:t>
            </a:r>
            <a:r>
              <a:rPr lang="az-Latn-AZ" sz="1200" b="1" dirty="0"/>
              <a:t> </a:t>
            </a:r>
            <a:br>
              <a:rPr lang="az-Latn-AZ" sz="1600" dirty="0"/>
            </a:br>
            <a:r>
              <a:rPr lang="en-US" sz="1600" b="1" dirty="0"/>
              <a:t>Budget Older Families and Mainstream Young Singles/Couples </a:t>
            </a:r>
            <a:br>
              <a:rPr lang="en-US" sz="1600" b="1" dirty="0"/>
            </a:br>
            <a:r>
              <a:rPr lang="en-US" sz="1600" b="1" dirty="0"/>
              <a:t>are the top revenue-generating segments.</a:t>
            </a:r>
            <a:endParaRPr lang="ru-R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152EB-C9E2-8B03-492B-70E929652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69459"/>
            <a:ext cx="8744632" cy="1899651"/>
          </a:xfrm>
        </p:spPr>
        <p:txBody>
          <a:bodyPr>
            <a:normAutofit fontScale="92500" lnSpcReduction="10000"/>
          </a:bodyPr>
          <a:lstStyle/>
          <a:p>
            <a:r>
              <a:rPr lang="en-US" sz="1200" dirty="0"/>
              <a:t>- Budget Older Families: $156.9K total sales — largest segment</a:t>
            </a:r>
          </a:p>
          <a:p>
            <a:r>
              <a:rPr lang="en-US" sz="1200" dirty="0"/>
              <a:t>- Mainstream Young Singles/Couples: $147.6K — highest customer count</a:t>
            </a:r>
          </a:p>
          <a:p>
            <a:r>
              <a:rPr lang="en-US" sz="1200" dirty="0"/>
              <a:t>- Retirees (Mainstream): $145.2K — consistent spending pattern</a:t>
            </a:r>
          </a:p>
          <a:p>
            <a:r>
              <a:rPr lang="en-US" sz="1200" dirty="0"/>
              <a:t>- Premium customers show higher average price per unit ($4.1)</a:t>
            </a:r>
          </a:p>
          <a:p>
            <a:r>
              <a:rPr lang="en-US" sz="1200" dirty="0"/>
              <a:t>- 175g pack size dominates across all segments</a:t>
            </a:r>
            <a:endParaRPr lang="az-Latn-AZ" sz="1200" dirty="0"/>
          </a:p>
          <a:p>
            <a:pPr marL="0" indent="0">
              <a:buNone/>
            </a:pPr>
            <a:r>
              <a:rPr lang="en-US" sz="1200" dirty="0"/>
              <a:t> </a:t>
            </a:r>
            <a:r>
              <a:rPr lang="en-US" sz="1200" b="1" dirty="0"/>
              <a:t>Recommendation</a:t>
            </a:r>
            <a:r>
              <a:rPr lang="en-US" sz="1200" dirty="0"/>
              <a:t>: Focus promotional activities on Budget Older Families and Mainstream Young Singles/Couples to maximize revenue.</a:t>
            </a:r>
            <a:endParaRPr lang="ru-RU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A5E557-0AC0-30AF-0FFC-CB1982F6D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630" y="3569111"/>
            <a:ext cx="5905568" cy="31254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E73ED-E58E-9119-A7A5-C530CB535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" y="3724660"/>
            <a:ext cx="6029198" cy="292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1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A78884-B47C-A1FD-429B-D32DCD56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sz="3600" b="1" dirty="0"/>
              <a:t>Product &amp; Brand Insights</a:t>
            </a:r>
            <a:br>
              <a:rPr lang="az-Latn-AZ" sz="1600" dirty="0"/>
            </a:br>
            <a:r>
              <a:rPr lang="en-US" sz="1600" b="1" dirty="0"/>
              <a:t>Kettle dominates chip sales with $390K, while 175g is the most preferred pack size.</a:t>
            </a:r>
            <a:endParaRPr lang="ru-RU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E80AAB-4253-9082-5ADD-67DFB8ED3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69460"/>
            <a:ext cx="8483375" cy="2133284"/>
          </a:xfrm>
        </p:spPr>
        <p:txBody>
          <a:bodyPr>
            <a:normAutofit fontScale="92500" lnSpcReduction="20000"/>
          </a:bodyPr>
          <a:lstStyle/>
          <a:p>
            <a:r>
              <a:rPr lang="en-US" sz="1400" dirty="0"/>
              <a:t>- Kettle: $390K — #1 brand across all segments</a:t>
            </a:r>
          </a:p>
          <a:p>
            <a:r>
              <a:rPr lang="en-US" sz="1400" dirty="0"/>
              <a:t>- Smiths: $203K — #2 brand</a:t>
            </a:r>
          </a:p>
          <a:p>
            <a:r>
              <a:rPr lang="en-US" sz="1400" dirty="0"/>
              <a:t>- Doritos: $187K — #3 brand</a:t>
            </a:r>
          </a:p>
          <a:p>
            <a:r>
              <a:rPr lang="en-US" sz="1400" dirty="0"/>
              <a:t>- Top 3 brands account for majority of total sales</a:t>
            </a:r>
          </a:p>
          <a:p>
            <a:r>
              <a:rPr lang="en-US" sz="1400" dirty="0"/>
              <a:t>- 175g pack: $408K — most purchased size</a:t>
            </a:r>
          </a:p>
          <a:p>
            <a:r>
              <a:rPr lang="en-US" sz="1400" dirty="0"/>
              <a:t>- 150g pack: $275K — second most popular</a:t>
            </a:r>
            <a:endParaRPr lang="az-Latn-AZ" sz="1400" dirty="0"/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b="1" dirty="0"/>
              <a:t>Recommendation</a:t>
            </a:r>
            <a:r>
              <a:rPr lang="en-US" sz="1400" dirty="0"/>
              <a:t>: Prioritize shelf space and promotions for Kettle and Smiths in 175g and 150g pack sizes.</a:t>
            </a:r>
            <a:endParaRPr lang="az-Latn-AZ" sz="1400" dirty="0"/>
          </a:p>
          <a:p>
            <a:pPr marL="0" indent="0">
              <a:buNone/>
            </a:pPr>
            <a:endParaRPr lang="ru-RU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5BCF85-8726-2365-2BAB-369FCE56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41" y="3947923"/>
            <a:ext cx="5781944" cy="2764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A1113A-FEF4-73CD-AAA0-7AB55CDB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15" y="3802744"/>
            <a:ext cx="5781944" cy="297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6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DD69C2-1D0B-D3EF-D739-FBA65FE88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sz="3600" b="1" dirty="0"/>
              <a:t>Trial Store Performance</a:t>
            </a:r>
            <a:br>
              <a:rPr lang="az-Latn-AZ" sz="1600" dirty="0"/>
            </a:br>
            <a:r>
              <a:rPr lang="en-US" sz="1600" b="1" dirty="0"/>
              <a:t>Store 88 demonstrated the strongest uplift during the trial period (Feb — Apr 2019).</a:t>
            </a:r>
            <a:endParaRPr lang="ru-RU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5E6D6E-DD13-A327-7D90-E4040259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56401"/>
            <a:ext cx="8483375" cy="2133284"/>
          </a:xfrm>
        </p:spPr>
        <p:txBody>
          <a:bodyPr>
            <a:normAutofit/>
          </a:bodyPr>
          <a:lstStyle/>
          <a:p>
            <a:r>
              <a:rPr lang="en-US" sz="1400" dirty="0"/>
              <a:t>- Trial Stores: 77, 86, 88 | Trial Period: Feb – Apr 2019</a:t>
            </a:r>
          </a:p>
          <a:p>
            <a:r>
              <a:rPr lang="en-US" sz="1400" dirty="0"/>
              <a:t>- Store 88 vs Control Store 65: Strong sales uplift ↑</a:t>
            </a:r>
          </a:p>
          <a:p>
            <a:r>
              <a:rPr lang="en-US" sz="1400" dirty="0"/>
              <a:t>- Store 77 vs Control Store 53: Moderate upward trend ↑</a:t>
            </a:r>
          </a:p>
          <a:p>
            <a:r>
              <a:rPr lang="en-US" sz="1400" dirty="0"/>
              <a:t>- Store 86 vs Control Store 73: Stable, minimal divergence →</a:t>
            </a:r>
            <a:endParaRPr lang="az-Latn-AZ" sz="1400" dirty="0"/>
          </a:p>
          <a:p>
            <a:pPr marL="0" indent="0">
              <a:buNone/>
            </a:pPr>
            <a:r>
              <a:rPr lang="en-US" sz="1400" dirty="0"/>
              <a:t> Store 88 showed the most significant trial impact. Results support a broader rollout of the new layout.</a:t>
            </a:r>
            <a:endParaRPr lang="ru-RU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2D4D2-A4B9-B52B-9C48-A2A08D5A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8" y="3265714"/>
            <a:ext cx="11401612" cy="313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1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060F34-F3AA-23E4-18AC-245E6536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97111"/>
          </a:xfrm>
        </p:spPr>
        <p:txBody>
          <a:bodyPr/>
          <a:lstStyle/>
          <a:p>
            <a:r>
              <a:rPr lang="en-US" sz="3600" b="1" dirty="0"/>
              <a:t>Recommendations &amp; Next Steps</a:t>
            </a:r>
            <a:endParaRPr lang="ru-RU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4CC5E0-0898-4531-96D2-F2A7545B1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0" y="1356400"/>
            <a:ext cx="11342689" cy="5276629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01  Target Key Segments</a:t>
            </a:r>
          </a:p>
          <a:p>
            <a:r>
              <a:rPr lang="en-US" sz="1400" dirty="0"/>
              <a:t>    Focus marketing budget on Budget Older Families </a:t>
            </a:r>
          </a:p>
          <a:p>
            <a:r>
              <a:rPr lang="en-US" sz="1400" dirty="0"/>
              <a:t>    and Mainstream Young Singles/Couples.</a:t>
            </a:r>
          </a:p>
          <a:p>
            <a:endParaRPr lang="en-US" sz="1400" dirty="0"/>
          </a:p>
          <a:p>
            <a:r>
              <a:rPr lang="en-US" sz="1400" dirty="0"/>
              <a:t>02  Prioritize Top Brands</a:t>
            </a:r>
          </a:p>
          <a:p>
            <a:r>
              <a:rPr lang="en-US" sz="1400" dirty="0"/>
              <a:t>    Ensure Kettle and Smiths are well-stocked, </a:t>
            </a:r>
          </a:p>
          <a:p>
            <a:r>
              <a:rPr lang="en-US" sz="1400" dirty="0"/>
              <a:t>    especially in 175g and 150g pack sizes.</a:t>
            </a:r>
          </a:p>
          <a:p>
            <a:endParaRPr lang="en-US" sz="1400" dirty="0"/>
          </a:p>
          <a:p>
            <a:r>
              <a:rPr lang="en-US" sz="1400" dirty="0"/>
              <a:t>03  Roll Out Trial Layout</a:t>
            </a:r>
          </a:p>
          <a:p>
            <a:r>
              <a:rPr lang="en-US" sz="1400" dirty="0"/>
              <a:t>    Store 88 results strongly support expanding </a:t>
            </a:r>
          </a:p>
          <a:p>
            <a:r>
              <a:rPr lang="en-US" sz="1400" dirty="0"/>
              <a:t>    the new store layout to all locations.</a:t>
            </a:r>
          </a:p>
          <a:p>
            <a:endParaRPr lang="en-US" sz="1400" dirty="0"/>
          </a:p>
          <a:p>
            <a:r>
              <a:rPr lang="en-US" sz="1400" dirty="0"/>
              <a:t>04  Next Steps</a:t>
            </a:r>
          </a:p>
          <a:p>
            <a:r>
              <a:rPr lang="en-US" sz="1400" dirty="0"/>
              <a:t>    • Conduct further analysis on underperforming segments</a:t>
            </a:r>
          </a:p>
          <a:p>
            <a:r>
              <a:rPr lang="en-US" sz="1400" dirty="0"/>
              <a:t>    • Monitor Store 77 and 86 post-trial performance</a:t>
            </a:r>
          </a:p>
          <a:p>
            <a:r>
              <a:rPr lang="en-US" sz="1400" dirty="0"/>
              <a:t>    • Review pricing strategy for Premium customers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4766981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54</TotalTime>
  <Words>569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Chip Category Strategic Review</vt:lpstr>
      <vt:lpstr>PowerPoint Presentation</vt:lpstr>
      <vt:lpstr>PowerPoint Presentation</vt:lpstr>
      <vt:lpstr>Customer Segment Analysis  Budget Older Families and Mainstream Young Singles/Couples  are the top revenue-generating segments.</vt:lpstr>
      <vt:lpstr>Product &amp; Brand Insights Kettle dominates chip sales with $390K, while 175g is the most preferred pack size.</vt:lpstr>
      <vt:lpstr>Trial Store Performance Store 88 demonstrated the strongest uplift during the trial period (Feb — Apr 2019).</vt:lpstr>
      <vt:lpstr>Recommendations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2026-05-07T00:18:11Z</dcterms:created>
  <dcterms:modified xsi:type="dcterms:W3CDTF">2026-05-07T01:12:57Z</dcterms:modified>
</cp:coreProperties>
</file>